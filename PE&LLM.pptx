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5" r:id="rId4"/>
    <p:sldId id="272" r:id="rId5"/>
    <p:sldId id="276" r:id="rId6"/>
    <p:sldId id="273" r:id="rId7"/>
    <p:sldId id="274" r:id="rId8"/>
    <p:sldId id="269" r:id="rId9"/>
    <p:sldId id="257" r:id="rId10"/>
    <p:sldId id="258" r:id="rId11"/>
    <p:sldId id="259" r:id="rId12"/>
    <p:sldId id="260" r:id="rId13"/>
    <p:sldId id="261" r:id="rId14"/>
    <p:sldId id="262" r:id="rId15"/>
    <p:sldId id="264" r:id="rId16"/>
    <p:sldId id="263" r:id="rId17"/>
    <p:sldId id="265" r:id="rId18"/>
    <p:sldId id="266" r:id="rId19"/>
    <p:sldId id="267" r:id="rId20"/>
    <p:sldId id="271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9AEC-BCB8-1423-9EB2-602ABEC6A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7B7FB-C18F-620B-E3F6-5EAD716C4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FF595-B26E-00F0-31B6-2A5531D4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9140E-7DE7-3059-8B0A-50BB3795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B8C39-C85C-9FD4-B848-2B7FA7D7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9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1E24-88D0-A1FA-2A7F-4BF02BDD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BFEBF-3EEB-90EE-E068-4DA54D55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E4940-D0E1-F181-7526-E3F3C37E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4231-A4AC-2CC0-16C7-4F88BEB7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626F6-D5F3-C4FE-861A-E4F8D2FD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37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0CBA-1A58-9672-CD19-FC491AE0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89DE4-82D7-7824-3001-DA890DD96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832B1-01D3-7FCC-AB04-373B2979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60C66-DE07-C514-0EAA-CA0F3D25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7EFC3-A445-6CDE-B1A2-294D4D45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80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8011-28F4-5B4C-A2AB-EE3B83C5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A05A9-DA9C-9EE3-6B3C-21FE0D6C5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10AE6-456B-F28B-DE65-15986E902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675C-F6EB-C97D-8D75-0B30E826B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E6C5D-E028-3555-E193-1E89952F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46EAC-2D77-1ADE-67E6-1C4134EB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2937-3D86-FE1D-7ECC-F9FB7179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96A7E-E1E1-34B7-2903-C633D542F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5EA48-7BF9-CA96-E9B8-A1A071F9F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746BA-7EC6-D29E-AC50-46156AD3D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C5C84-B5BD-037F-D7EC-8B022D2EF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99040-D701-CAE6-D006-7157E1AE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A803C-E7B6-926A-7C31-4E49AB40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F72C1-98A6-791D-256C-60CB90E7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29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A747-0B52-D415-5597-B7F5F3F7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1F183-925B-4805-2C37-16B3BADD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74A69-9064-445A-DC43-2076F9BB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0CAAD-6FA8-7137-3D23-31C1764A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67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B5F3C-2A88-0594-D993-8AC8212D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80092-1C9D-5BB8-EEDA-1FA3AEC2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78A2B-D761-9E5D-AA4E-590F0781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51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BC2B-EC0E-BBB5-288F-763362F1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55F2B-16DC-E5C5-AF16-E37531101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3F71E-AED2-825E-4BF5-99950E5C0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B4331-4E67-BB94-0A1E-46767B14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942B5-E33F-BB6B-6119-A76CBF9F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66659-B7A4-C1F7-46D7-27501A2A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9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50AE-E6E4-D5B7-1F91-1797F833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C4F31-295C-DDC2-1A5D-AB6D8F0A7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3078B-99D5-15E1-9270-6DE54F2C7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79611-6597-5B66-516B-C60F052D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40475-EBCC-FE15-37C9-916C21ED6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44023-271D-470D-95A0-BCB83F75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19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8ED9-2473-ED80-5F7B-0B255425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A79E4-84DD-4C07-F28F-FAEB66F08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0612-1DA7-EEDD-1D7D-AE5B5BE5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D0A3A-F45B-A8ED-A2C5-0B581B91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D3AA-16AE-AAA2-7753-893349A13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2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6972A-9C23-6D16-174B-2590243C3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FD867-10B6-A371-C1DD-69211218E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0DD93-BB4D-7CC0-DCF9-9310C787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7B202-4D00-4084-900A-A2BC5BD2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3A136-0F9C-3A88-0096-8D5A3CC1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2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33275-DF23-2AE6-75DA-1128B410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23494-A07E-730F-43EF-D3F463D7B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4D916-178D-7D87-FBEA-94B6B6D27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B18B5-5277-4EF8-A369-3E4A484ECC0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21EE-D4FA-71BD-CAE1-5503A9809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14774-67D8-6920-BF09-263BEBEBA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39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B552-C2CD-7E06-34DB-174E8A892B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3D133-38BE-CC88-E5E9-94BB5D8007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D933B-D022-124B-FB3E-EF941168E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6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B7DC-8398-2728-6E82-CEC06575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BFDDBE-5497-EA18-A2AC-5507FE6BC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CD9C34-1058-520B-EFCB-7D52B0D79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-238784"/>
            <a:ext cx="10515599" cy="69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8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B6D8-5539-160C-B074-104EEF9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4A64A7-B631-9FE8-EA6C-4242FB3BF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404" y="365125"/>
            <a:ext cx="1144869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6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A892-9D7B-C8C4-3413-0905C9E3D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0B1F6-7B9D-C22E-D129-8571BD629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r>
              <a:rPr lang="en-IN" dirty="0"/>
              <a:t>Artificial Intelligence makes machines smart, while Machine Learning is the technique that teaches machines how to become smart by learning from data.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A407D-17AB-B61E-4E93-59FBBD833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25" y="1734118"/>
            <a:ext cx="10515600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5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E124-D731-8F6C-E669-63E059B4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4447-CC41-6782-DE48-1E5DA6893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1E61B-F960-AEC2-8F7A-351A2BC87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0" y="365125"/>
            <a:ext cx="11630720" cy="600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3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48C-DE47-F302-C201-9C5AB386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D4A7BE-6CEB-3FF1-9B41-0C159DD96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099" y="274320"/>
            <a:ext cx="11322861" cy="590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3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F7C9-6710-DFCC-AA19-5386EF18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2CD81F-BEC3-AF46-9E90-6D74865BE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00" y="365125"/>
            <a:ext cx="1108078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9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CE75-52EC-8677-ED4A-3580EAED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E8DFA3-8B50-34A3-5167-42A20CEE0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380" y="365125"/>
            <a:ext cx="10780870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77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B404-83C9-2AE0-09BC-3263BF65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5974-92CF-655E-596D-C495F638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3360"/>
            <a:ext cx="10744200" cy="5963603"/>
          </a:xfrm>
        </p:spPr>
        <p:txBody>
          <a:bodyPr/>
          <a:lstStyle/>
          <a:p>
            <a:r>
              <a:rPr lang="en-IN" sz="1800" b="1" dirty="0"/>
              <a:t>Prompt Engineering</a:t>
            </a:r>
            <a:r>
              <a:rPr lang="en-IN" sz="1800" dirty="0"/>
              <a:t> is the process of writing </a:t>
            </a:r>
            <a:r>
              <a:rPr lang="en-IN" sz="1800" b="1" dirty="0"/>
              <a:t>clear, structured, and effective instructions (prompts)</a:t>
            </a:r>
            <a:r>
              <a:rPr lang="en-IN" sz="1800" dirty="0"/>
              <a:t> so that an AI model (LLM) like ChatGPT, GPT-5.5, or Gemini gives the desired output.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8B59A-5987-2E4F-0D4F-875416AD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57882"/>
            <a:ext cx="10967720" cy="56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53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5A67-C48E-61A2-359B-C6BF80BF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33BD2-A326-8AE1-1A1B-1481D287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"/>
            <a:ext cx="10515600" cy="5933123"/>
          </a:xfrm>
        </p:spPr>
        <p:txBody>
          <a:bodyPr/>
          <a:lstStyle/>
          <a:p>
            <a:r>
              <a:rPr lang="en-IN" sz="1200" b="1" dirty="0"/>
              <a:t>Simple Rule to Remember</a:t>
            </a:r>
          </a:p>
          <a:p>
            <a:r>
              <a:rPr lang="en-IN" sz="1200" dirty="0"/>
              <a:t>❌ </a:t>
            </a:r>
            <a:r>
              <a:rPr lang="en-IN" sz="1200" b="1" dirty="0"/>
              <a:t>Bad Prompt</a:t>
            </a:r>
            <a:r>
              <a:rPr lang="en-IN" sz="1200" dirty="0"/>
              <a:t> = </a:t>
            </a:r>
            <a:r>
              <a:rPr lang="en-IN" sz="1200" b="1" dirty="0"/>
              <a:t>Vague + No Context + No Goal</a:t>
            </a:r>
            <a:endParaRPr lang="en-IN" sz="1200" dirty="0"/>
          </a:p>
          <a:p>
            <a:r>
              <a:rPr lang="en-IN" sz="1200" dirty="0"/>
              <a:t>✅ </a:t>
            </a:r>
            <a:r>
              <a:rPr lang="en-IN" sz="1200" b="1" dirty="0"/>
              <a:t>Good Prompt</a:t>
            </a:r>
            <a:r>
              <a:rPr lang="en-IN" sz="1200" dirty="0"/>
              <a:t> = </a:t>
            </a:r>
            <a:r>
              <a:rPr lang="en-IN" sz="1200" b="1" dirty="0"/>
              <a:t>Role + Task + Context + Constraints + Expected Output</a:t>
            </a:r>
            <a:endParaRPr lang="en-IN" sz="12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E2070-25BB-6240-D0DB-2A663A7F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42" y="1087120"/>
            <a:ext cx="10411758" cy="55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59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47142-28A3-80CE-7E28-1C681D3D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D64869-2653-CDF4-DA26-7B349C00E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66075"/>
              </p:ext>
            </p:extLst>
          </p:nvPr>
        </p:nvGraphicFramePr>
        <p:xfrm>
          <a:off x="640080" y="365125"/>
          <a:ext cx="10713720" cy="6198463"/>
        </p:xfrm>
        <a:graphic>
          <a:graphicData uri="http://schemas.openxmlformats.org/drawingml/2006/table">
            <a:tbl>
              <a:tblPr/>
              <a:tblGrid>
                <a:gridCol w="5356860">
                  <a:extLst>
                    <a:ext uri="{9D8B030D-6E8A-4147-A177-3AD203B41FA5}">
                      <a16:colId xmlns:a16="http://schemas.microsoft.com/office/drawing/2014/main" val="3637016291"/>
                    </a:ext>
                  </a:extLst>
                </a:gridCol>
                <a:gridCol w="5356860">
                  <a:extLst>
                    <a:ext uri="{9D8B030D-6E8A-4147-A177-3AD203B41FA5}">
                      <a16:colId xmlns:a16="http://schemas.microsoft.com/office/drawing/2014/main" val="3357685366"/>
                    </a:ext>
                  </a:extLst>
                </a:gridCol>
              </a:tblGrid>
              <a:tr h="268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 Bad Prompt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 Good Prompt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791985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Python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 Python function to reverse a string with comments and an example.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860574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Explain 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FastAPI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.</a:t>
                      </a:r>
                      <a:endParaRPr lang="en-IN" sz="1100" dirty="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Explain FastAPI for beginners with a real-world example and architecture.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552961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Fix this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Find the bug, explain the error, and provide the corrected Python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282320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SQL.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 SQL query to find the second highest salary and explain the logic.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960578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Create an API.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Create a FastAPI CRUD API using MySQL, Pydantic, and SQLAlchemy.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3606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Summarize this.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Summarize this document in 5 bullet points highlighting key decisions.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774695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an email.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 professional leave request email for 3 days due to illness.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468513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Generate test cases.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Generate pytest unit tests covering positive, negative, and edge cases.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192774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Optimize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Optimize this Python code for readability and performance, and explain the changes.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738934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Teach Python.</a:t>
                      </a:r>
                      <a:endParaRPr lang="en-IN" sz="1100" dirty="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Teach Python to a beginner using simple language, examples, and practice exercises.</a:t>
                      </a:r>
                      <a:endParaRPr lang="en-IN" sz="1100" dirty="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293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53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8DD1-97F2-B5AE-59C2-ADCAEB21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5645BBF-B339-B484-0BEE-7CA1A6819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875035"/>
              </p:ext>
            </p:extLst>
          </p:nvPr>
        </p:nvGraphicFramePr>
        <p:xfrm>
          <a:off x="467360" y="373097"/>
          <a:ext cx="11267439" cy="6297010"/>
        </p:xfrm>
        <a:graphic>
          <a:graphicData uri="http://schemas.openxmlformats.org/drawingml/2006/table">
            <a:tbl>
              <a:tblPr/>
              <a:tblGrid>
                <a:gridCol w="3755813">
                  <a:extLst>
                    <a:ext uri="{9D8B030D-6E8A-4147-A177-3AD203B41FA5}">
                      <a16:colId xmlns:a16="http://schemas.microsoft.com/office/drawing/2014/main" val="913910756"/>
                    </a:ext>
                  </a:extLst>
                </a:gridCol>
                <a:gridCol w="3755813">
                  <a:extLst>
                    <a:ext uri="{9D8B030D-6E8A-4147-A177-3AD203B41FA5}">
                      <a16:colId xmlns:a16="http://schemas.microsoft.com/office/drawing/2014/main" val="3754897550"/>
                    </a:ext>
                  </a:extLst>
                </a:gridCol>
                <a:gridCol w="3755813">
                  <a:extLst>
                    <a:ext uri="{9D8B030D-6E8A-4147-A177-3AD203B41FA5}">
                      <a16:colId xmlns:a16="http://schemas.microsoft.com/office/drawing/2014/main" val="1023725883"/>
                    </a:ext>
                  </a:extLst>
                </a:gridCol>
              </a:tblGrid>
              <a:tr h="63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 Real-World Scenario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 Bad Prompt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 Good Prompt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710008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Customer Support Bot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Reply to customer.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Reply politely, apologize if needed, provide the solution, and keep the response under 100 words.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569361"/>
                  </a:ext>
                </a:extLst>
              </a:tr>
              <a:tr h="882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HR Resume Screening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Check this resume.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Evaluate this resume for a Python Developer role with 5 years of experience and list strengths, weaknesses, and a recommendation.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80800"/>
                  </a:ext>
                </a:extLst>
              </a:tr>
              <a:tr h="882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Bank Chatbot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Answer this question.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Act as a banking assistant. Explain the account opening process in simple language without providing financial advice.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95936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Healthcare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Explain diabetes.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Explain Type 2 Diabetes to a patient using simple, non-technical language and include lifestyle tips.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95528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E-commerce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Describe this product.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Write a persuasive product description with features, benefits, and SEO-friendly keywords.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682996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Software Development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Generate code.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Generate a FastAPI CRUD API with authentication, validation, and proper project structure.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417036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Testing (QA)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Write test cases.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Generate Selenium test cases for the login page, including valid, invalid, and boundary scenarios.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06584"/>
                  </a:ext>
                </a:extLst>
              </a:tr>
              <a:tr h="603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Education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Teach Python.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Teach Python to beginners using simple examples, quizzes, and hands-on exercises.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596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672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7CE3-1063-2CAF-AFE2-0B5ACD8C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FD81-E629-4C0F-2D71-114718A4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4B049D-532F-B44B-3BB6-9D925F7E7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429842"/>
              </p:ext>
            </p:extLst>
          </p:nvPr>
        </p:nvGraphicFramePr>
        <p:xfrm>
          <a:off x="274320" y="81280"/>
          <a:ext cx="10871199" cy="6095682"/>
        </p:xfrm>
        <a:graphic>
          <a:graphicData uri="http://schemas.openxmlformats.org/drawingml/2006/table">
            <a:tbl>
              <a:tblPr/>
              <a:tblGrid>
                <a:gridCol w="3623733">
                  <a:extLst>
                    <a:ext uri="{9D8B030D-6E8A-4147-A177-3AD203B41FA5}">
                      <a16:colId xmlns:a16="http://schemas.microsoft.com/office/drawing/2014/main" val="1886311701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2344949486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2841318969"/>
                    </a:ext>
                  </a:extLst>
                </a:gridCol>
              </a:tblGrid>
              <a:tr h="293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Technique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Description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Example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195368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Zero-Shot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Give only the task without examples.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Translate "Hello" to Kannada.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90939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One-Shot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Give one example, then ask for a similar output.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Apple → Fruit\nCarrot → Vegetable\nPotato → ?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014702"/>
                  </a:ext>
                </a:extLst>
              </a:tr>
              <a:tr h="73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Few-Shot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Give multiple examples to teach the pattern.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Cat → Animal\nRose → Flower\nMango → Fruit\nLion → ?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05265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Role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Tell the AI what role to play.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Act as a Senior Python Developer.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35719"/>
                  </a:ext>
                </a:extLst>
              </a:tr>
              <a:tr h="73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Instruction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Give clear step-by-step instructions.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Explain FastAPI with examples, diagrams, and interview questions.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173672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Chain of Thought (CoT)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Ask the AI to reason step by step.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Solve this problem step by step.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131017"/>
                  </a:ext>
                </a:extLst>
              </a:tr>
              <a:tr h="73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Contextual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Provide background information before asking the question.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This API is used for banking. Explain the security risks.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85943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Output Formatting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Specify how the answer should be formatted.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Return the output as a JSON object.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6486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Constraint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Set rules or limitations.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Answer in less than 100 words.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000511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Persona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Ask the AI to respond as a specific type of person.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Courier New" panose="02070309020205020404" pitchFamily="49" charset="0"/>
                        </a:rPr>
                        <a:t>Explain Python as a college </a:t>
                      </a:r>
                      <a:r>
                        <a:rPr lang="en-IN" sz="1000" dirty="0" err="1">
                          <a:latin typeface="Courier New" panose="02070309020205020404" pitchFamily="49" charset="0"/>
                        </a:rPr>
                        <a:t>professo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895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43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83E7-0294-07D9-8846-AB087C9D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000" b="1" dirty="0"/>
              <a:t>What is an LLM (Large Language Model)?</a:t>
            </a:r>
            <a:br>
              <a:rPr lang="en-IN" sz="2000" b="1" dirty="0"/>
            </a:br>
            <a:br>
              <a:rPr lang="en-IN" sz="2000" b="1" dirty="0"/>
            </a:br>
            <a:r>
              <a:rPr lang="en-IN" sz="2000" dirty="0"/>
              <a:t>An </a:t>
            </a:r>
            <a:r>
              <a:rPr lang="en-IN" sz="2000" b="1" dirty="0"/>
              <a:t>LLM (Large Language Model)</a:t>
            </a:r>
            <a:r>
              <a:rPr lang="en-IN" sz="2000" dirty="0"/>
              <a:t> is an Artificial Intelligence model trained on a massive amount of text data to understand and generate human-like language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LLM = An AI brain that can read, understand, and generate human language.</a:t>
            </a:r>
            <a:br>
              <a:rPr lang="en-IN" sz="2000" dirty="0"/>
            </a:br>
            <a:endParaRPr lang="en-IN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ED541B-32CD-1C6E-5EC8-93AF3D317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1775172"/>
              </p:ext>
            </p:extLst>
          </p:nvPr>
        </p:nvGraphicFramePr>
        <p:xfrm>
          <a:off x="838200" y="2042159"/>
          <a:ext cx="8011160" cy="2926080"/>
        </p:xfrm>
        <a:graphic>
          <a:graphicData uri="http://schemas.openxmlformats.org/drawingml/2006/table">
            <a:tbl>
              <a:tblPr/>
              <a:tblGrid>
                <a:gridCol w="4005580">
                  <a:extLst>
                    <a:ext uri="{9D8B030D-6E8A-4147-A177-3AD203B41FA5}">
                      <a16:colId xmlns:a16="http://schemas.microsoft.com/office/drawing/2014/main" val="332412816"/>
                    </a:ext>
                  </a:extLst>
                </a:gridCol>
                <a:gridCol w="4005580">
                  <a:extLst>
                    <a:ext uri="{9D8B030D-6E8A-4147-A177-3AD203B41FA5}">
                      <a16:colId xmlns:a16="http://schemas.microsoft.com/office/drawing/2014/main" val="3475231275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12014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GPT-5.5, GPT-4.1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04134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21012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Anthropic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7315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73847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Mistral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Mistral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87961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01453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Alibaba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Qwen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3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665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C92B-3CC0-E0EE-D913-8A2A44A0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Can an LLM Do?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3F8E-D5E0-6F51-9E18-23166CB5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✅ Answer questions </a:t>
            </a:r>
          </a:p>
          <a:p>
            <a:r>
              <a:rPr lang="en-IN" dirty="0"/>
              <a:t>✅ Generate code </a:t>
            </a:r>
          </a:p>
          <a:p>
            <a:r>
              <a:rPr lang="en-IN" dirty="0"/>
              <a:t>✅ Explain concepts </a:t>
            </a:r>
          </a:p>
          <a:p>
            <a:r>
              <a:rPr lang="en-IN" dirty="0"/>
              <a:t>✅ Summarize documents </a:t>
            </a:r>
          </a:p>
          <a:p>
            <a:r>
              <a:rPr lang="en-IN" dirty="0"/>
              <a:t>✅ Translate languages </a:t>
            </a:r>
          </a:p>
          <a:p>
            <a:r>
              <a:rPr lang="en-IN" dirty="0"/>
              <a:t>✅ Write emails </a:t>
            </a:r>
          </a:p>
          <a:p>
            <a:r>
              <a:rPr lang="en-IN" dirty="0"/>
              <a:t>✅ Create reports </a:t>
            </a:r>
          </a:p>
          <a:p>
            <a:r>
              <a:rPr lang="en-IN" dirty="0"/>
              <a:t>✅ Generate SQL queries </a:t>
            </a:r>
          </a:p>
          <a:p>
            <a:r>
              <a:rPr lang="en-IN" dirty="0"/>
              <a:t>✅ Build APIs </a:t>
            </a:r>
          </a:p>
          <a:p>
            <a:r>
              <a:rPr lang="en-IN" dirty="0"/>
              <a:t>✅ Help with debugging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158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574F-006A-54F1-2367-661B4FDC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BBD3-4280-F31D-A0E5-55F36435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ATM Example</a:t>
            </a:r>
          </a:p>
          <a:p>
            <a:r>
              <a:rPr lang="en-IN" dirty="0"/>
              <a:t>🏦 </a:t>
            </a:r>
            <a:r>
              <a:rPr lang="en-IN" b="1" dirty="0"/>
              <a:t>Bank</a:t>
            </a:r>
            <a:r>
              <a:rPr lang="en-IN" dirty="0"/>
              <a:t> = LLM (stores knowledge) </a:t>
            </a:r>
          </a:p>
          <a:p>
            <a:r>
              <a:rPr lang="en-IN" dirty="0"/>
              <a:t>💳 </a:t>
            </a:r>
            <a:r>
              <a:rPr lang="en-IN" b="1" dirty="0"/>
              <a:t>ATM Card</a:t>
            </a:r>
            <a:r>
              <a:rPr lang="en-IN" dirty="0"/>
              <a:t> = Your Application </a:t>
            </a:r>
          </a:p>
          <a:p>
            <a:r>
              <a:rPr lang="en-IN" dirty="0"/>
              <a:t>🔑 </a:t>
            </a:r>
            <a:r>
              <a:rPr lang="en-IN" b="1" dirty="0"/>
              <a:t>PIN</a:t>
            </a:r>
            <a:r>
              <a:rPr lang="en-IN" dirty="0"/>
              <a:t> = API Key </a:t>
            </a:r>
          </a:p>
          <a:p>
            <a:r>
              <a:rPr lang="en-IN" dirty="0"/>
              <a:t>🗣️ </a:t>
            </a:r>
            <a:r>
              <a:rPr lang="en-IN" b="1" dirty="0"/>
              <a:t>Question</a:t>
            </a:r>
            <a:r>
              <a:rPr lang="en-IN" dirty="0"/>
              <a:t> = Prompt </a:t>
            </a:r>
          </a:p>
          <a:p>
            <a:r>
              <a:rPr lang="en-IN" dirty="0"/>
              <a:t>💵 </a:t>
            </a:r>
            <a:r>
              <a:rPr lang="en-IN" b="1" dirty="0"/>
              <a:t>Cash</a:t>
            </a:r>
            <a:r>
              <a:rPr lang="en-IN" dirty="0"/>
              <a:t> = AI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188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0865-4A51-D33B-705E-86EDA5AC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8C0B-56DE-18DD-699F-07EF397F1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365125"/>
            <a:ext cx="10947400" cy="581183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1. 🍕 Pizza Shop Example (Best for Beginners)</a:t>
            </a:r>
          </a:p>
          <a:p>
            <a:r>
              <a:rPr lang="en-IN" dirty="0"/>
              <a:t>🍕 Pizza Shop = LLM</a:t>
            </a:r>
            <a:br>
              <a:rPr lang="en-IN" dirty="0"/>
            </a:br>
            <a:r>
              <a:rPr lang="en-IN" dirty="0"/>
              <a:t>🙋 Customer = Your Application</a:t>
            </a:r>
            <a:br>
              <a:rPr lang="en-IN" dirty="0"/>
            </a:br>
            <a:r>
              <a:rPr lang="en-IN" dirty="0"/>
              <a:t>📝 Order = Prompt</a:t>
            </a:r>
            <a:br>
              <a:rPr lang="en-IN" dirty="0"/>
            </a:br>
            <a:r>
              <a:rPr lang="en-IN" dirty="0"/>
              <a:t>🎟️ Token/Bill = API Key</a:t>
            </a:r>
            <a:br>
              <a:rPr lang="en-IN" dirty="0"/>
            </a:br>
            <a:r>
              <a:rPr lang="en-IN" dirty="0"/>
              <a:t>🍕 Pizza = AI Response</a:t>
            </a:r>
          </a:p>
          <a:p>
            <a:r>
              <a:rPr lang="en-IN" b="1" dirty="0"/>
              <a:t>Flow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Customer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"I need a Large Veg Pizza"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Pizza Shop (LLM)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Makes Pizza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Returns Pizza (Response)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36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AFCB-FBE2-4870-C399-F9FEBFF4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74CCE-AC6F-F0F7-145E-D6AC249A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880"/>
            <a:ext cx="11049000" cy="599408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</a:t>
            </a:r>
            <a:r>
              <a:rPr lang="en-IN" b="1" dirty="0"/>
              <a:t>2. 👨‍🍳 Restaurant Example</a:t>
            </a:r>
          </a:p>
          <a:p>
            <a:r>
              <a:rPr lang="en-IN" dirty="0"/>
              <a:t>👨‍🍳 Chef = LLM</a:t>
            </a:r>
            <a:br>
              <a:rPr lang="en-IN" dirty="0"/>
            </a:br>
            <a:r>
              <a:rPr lang="en-IN" dirty="0"/>
              <a:t>🙋 Customer = Application</a:t>
            </a:r>
            <a:br>
              <a:rPr lang="en-IN" dirty="0"/>
            </a:br>
            <a:r>
              <a:rPr lang="en-IN" dirty="0"/>
              <a:t>🍽️ Food Order = Prompt</a:t>
            </a:r>
            <a:br>
              <a:rPr lang="en-IN" dirty="0"/>
            </a:br>
            <a:r>
              <a:rPr lang="en-IN" dirty="0"/>
              <a:t>💳 Payment = API Key</a:t>
            </a:r>
            <a:br>
              <a:rPr lang="en-IN" dirty="0"/>
            </a:br>
            <a:r>
              <a:rPr lang="en-IN" dirty="0"/>
              <a:t>🍝 Food = Response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Customer:</a:t>
            </a:r>
            <a:br>
              <a:rPr lang="en-IN" dirty="0"/>
            </a:br>
            <a:endParaRPr lang="en-IN" dirty="0"/>
          </a:p>
          <a:p>
            <a:r>
              <a:rPr lang="en-IN" dirty="0"/>
              <a:t>One Masala Dosa.</a:t>
            </a:r>
            <a:br>
              <a:rPr lang="en-IN" dirty="0"/>
            </a:br>
            <a:r>
              <a:rPr lang="en-IN" dirty="0"/>
              <a:t>Chef prepares it.</a:t>
            </a:r>
            <a:br>
              <a:rPr lang="en-IN" dirty="0"/>
            </a:br>
            <a:r>
              <a:rPr lang="en-IN" dirty="0"/>
              <a:t>Customer receives Masala Dosa.</a:t>
            </a:r>
          </a:p>
          <a:p>
            <a:pPr marL="0" indent="0">
              <a:buNone/>
            </a:pPr>
            <a:r>
              <a:rPr lang="en-IN" dirty="0"/>
              <a:t>Just like that:</a:t>
            </a:r>
          </a:p>
          <a:p>
            <a:r>
              <a:rPr lang="en-IN" dirty="0"/>
              <a:t>Application:</a:t>
            </a:r>
            <a:br>
              <a:rPr lang="en-IN" dirty="0"/>
            </a:br>
            <a:r>
              <a:rPr lang="en-IN" dirty="0"/>
              <a:t>Explain </a:t>
            </a:r>
            <a:r>
              <a:rPr lang="en-IN" dirty="0" err="1"/>
              <a:t>FastAPI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LLM:</a:t>
            </a:r>
            <a:br>
              <a:rPr lang="en-IN" dirty="0"/>
            </a:br>
            <a:r>
              <a:rPr lang="en-IN" dirty="0"/>
              <a:t>Returns explanation.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280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6074-CD25-659A-0937-DB4F4BFF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E36F0-EE47-100B-124C-5961838BF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2880"/>
            <a:ext cx="10835640" cy="599408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5. 🚕 Uber Example</a:t>
            </a:r>
          </a:p>
          <a:p>
            <a:r>
              <a:rPr lang="en-IN" dirty="0"/>
              <a:t>🚕 Uber Driver = LLM</a:t>
            </a:r>
            <a:br>
              <a:rPr lang="en-IN" dirty="0"/>
            </a:br>
            <a:r>
              <a:rPr lang="en-IN" dirty="0"/>
              <a:t>📱 Uber App = Your Application</a:t>
            </a:r>
            <a:br>
              <a:rPr lang="en-IN" dirty="0"/>
            </a:br>
            <a:r>
              <a:rPr lang="en-IN" dirty="0"/>
              <a:t>📍Destination = Prompt</a:t>
            </a:r>
            <a:br>
              <a:rPr lang="en-IN" dirty="0"/>
            </a:br>
            <a:r>
              <a:rPr lang="en-IN" dirty="0"/>
              <a:t>🔐 Login = API Key</a:t>
            </a:r>
            <a:br>
              <a:rPr lang="en-IN" dirty="0"/>
            </a:br>
            <a:r>
              <a:rPr lang="en-IN" dirty="0"/>
              <a:t>🏠 Reached Destination = Response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Destination:</a:t>
            </a:r>
            <a:br>
              <a:rPr lang="en-IN" dirty="0"/>
            </a:br>
            <a:r>
              <a:rPr lang="en-IN" dirty="0"/>
              <a:t>Airport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Driver takes you there.</a:t>
            </a:r>
          </a:p>
          <a:p>
            <a:r>
              <a:rPr lang="en-IN" dirty="0"/>
              <a:t>Similarly</a:t>
            </a:r>
          </a:p>
          <a:p>
            <a:r>
              <a:rPr lang="en-IN" dirty="0"/>
              <a:t>Prompt:</a:t>
            </a:r>
            <a:br>
              <a:rPr lang="en-IN" dirty="0"/>
            </a:br>
            <a:r>
              <a:rPr lang="en-IN" dirty="0"/>
              <a:t>Explain Python.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LLM returns explanation.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301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CAE6-9E30-C43E-436C-F437328E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7E62AA-EA87-2DA5-1421-60457FD0A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723559" cy="600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49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83C54-A6A1-AEDF-0538-4EE51C77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C964D2-ADE5-DF14-CCAC-B7424154D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960" y="254000"/>
            <a:ext cx="11399520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1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1032</Words>
  <Application>Microsoft Office PowerPoint</Application>
  <PresentationFormat>Widescreen</PresentationFormat>
  <Paragraphs>162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What is an LLM (Large Language Model)?  An LLM (Large Language Model) is an Artificial Intelligence model trained on a massive amount of text data to understand and generate human-like language  LLM = An AI brain that can read, understand, and generate human language. </vt:lpstr>
      <vt:lpstr>What Can an LLM Do?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Thaneshwara M</dc:creator>
  <cp:lastModifiedBy>Thaneshwara M</cp:lastModifiedBy>
  <cp:revision>23</cp:revision>
  <dcterms:created xsi:type="dcterms:W3CDTF">2026-06-27T06:01:19Z</dcterms:created>
  <dcterms:modified xsi:type="dcterms:W3CDTF">2026-08-07T12:44:50Z</dcterms:modified>
</cp:coreProperties>
</file>